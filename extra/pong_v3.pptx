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2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55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22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PONG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</a:t>
            </a:r>
            <a:r>
              <a:rPr lang="en-US" sz="15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</a:t>
            </a:r>
            <a:r>
              <a:rPr lang="en-US" sz="15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пошаговая и интерактивная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Пошаговый режим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II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режим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глобальных переменных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21408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указателей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5616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массивов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9824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14032" y="4069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структурный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стиль Дейкстры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Пошаговый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слоёв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8892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3931920"/>
          </a:xfrm>
          <a:prstGeom prst="rect">
            <a:avLst/>
          </a:prstGeom>
          <a:solidFill>
            <a:srgbClr val="1E7FC2"/>
          </a:solidFill>
          <a:ln w="12700">
            <a:solidFill>
              <a:srgbClr val="1E7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pong.c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719072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10512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инициализация переменных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цикл while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определение победителя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8892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14400"/>
            <a:ext cx="54864" cy="3931920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371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функции логики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1719072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810512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move_p1y() / move_p2y()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new_bdx() / new_bdy()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new_bx() / new_by()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8892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914400"/>
            <a:ext cx="54864" cy="39319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1371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91072" y="1719072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810512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get_cell()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вычисление символа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лету без массивов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63240" y="2834640"/>
            <a:ext cx="18288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2834640"/>
            <a:ext cx="18288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слой не знает о деталях реализации </a:t>
            </a:r>
            <a:r>
              <a:rPr lang="en-US" sz="9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другого </a:t>
            </a:r>
            <a:r>
              <a:rPr lang="en-US" sz="9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иерархического упорядочивания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решения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41605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4160520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 </a:t>
            </a:r>
            <a:r>
              <a:rPr lang="en-US" sz="1000" b="1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</a:t>
            </a:r>
            <a:r>
              <a:rPr lang="en-US" sz="1000" b="1" smtClean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0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выход из функции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move_p1y(int p1y, int ch)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smtClean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</a:t>
            </a: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p1y</a:t>
            </a:r>
            <a:r>
              <a:rPr lang="en-US" sz="950" smtClean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(ch == 'a' &amp;&amp; p1y &gt;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p1y - 1;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(ch == 'z' &amp;&amp; p1y &lt; H - 4)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p1y + </a:t>
            </a:r>
            <a:r>
              <a:rPr lang="en-US" sz="95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smtClean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 // единственный выход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35661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функция отвечает ровно за одну переменную и возвращает её новое </a:t>
            </a:r>
            <a:r>
              <a:rPr lang="en-US" sz="9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</a:t>
            </a:r>
            <a:r>
              <a:rPr lang="en-US" sz="9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единственный способ изменить несколько значений без указателей и структур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60520" cy="41605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68680"/>
            <a:ext cx="54864" cy="41605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96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get_cell </a:t>
            </a:r>
            <a:r>
              <a:rPr lang="en-US" sz="1000" b="1" smtClean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0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условий принципиален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get_cell(..., int x, int 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result = ' ';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 == W/2 &amp;&amp; y%2==1) result=':';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(x==W-2 &amp;&amp; ...) result = '#';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(x==1   &amp;&amp; ...) result = '#';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(x==bx  &amp;&amp; y==by) result = 'O';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(x==0   || x==W-1) result = '|';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(y==0   || y==H-1) result </a:t>
            </a:r>
            <a:r>
              <a:rPr lang="en-US" sz="95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smtClean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'-';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 // единственный выход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35661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идут от менее важного к более </a:t>
            </a:r>
            <a:r>
              <a:rPr lang="en-US" sz="9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важному </a:t>
            </a:r>
            <a:r>
              <a:rPr lang="en-US" sz="9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следующее перезаписывает result. стенки в конце, потому что они важнее всего остального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условиям и 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принципам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Дейкстры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969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глобальных переменных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состояние живёт в локальных переменных main и передаётся явно через аргументы функций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92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указателей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функция возвращает новое значение через </a:t>
            </a:r>
            <a:r>
              <a:rPr lang="en-US" sz="8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</a:t>
            </a:r>
            <a:r>
              <a:rPr lang="en-US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 result вместо изменения по ссылке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массивов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get_cell вычисляет символ на лету по </a:t>
            </a:r>
            <a:r>
              <a:rPr lang="en-US" sz="8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условиям </a:t>
            </a:r>
            <a:r>
              <a:rPr lang="ru-RU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клеток без единого массива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структур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переменная состояния передаётся отдельным аргументом — декомпозиция вместо упаковки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261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выход из функции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498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функции используют паттерн </a:t>
            </a:r>
            <a:r>
              <a:rPr lang="en-US" sz="8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</a:t>
            </a:r>
            <a:r>
              <a:rPr lang="en-US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единственный return в конце тела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969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выход из цикла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</a:t>
            </a:r>
            <a:r>
              <a:rPr lang="en-US" sz="8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</a:t>
            </a:r>
            <a:r>
              <a:rPr lang="en-US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единственная точка выхода, нет break и continue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73736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1792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вложенность не более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2029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в render: for(y) -&gt; for(x) -&gt; if = 3 уровня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56032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функций не более 42 строк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самая длинная функция </a:t>
            </a:r>
            <a:r>
              <a:rPr lang="en-US" sz="85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</a:t>
            </a:r>
            <a:r>
              <a:rPr lang="ru-RU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85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строк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383280"/>
            <a:ext cx="41605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goto и exit()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используются вовсе</a:t>
            </a:r>
            <a:endParaRPr lang="en-US" sz="850" dirty="0"/>
          </a:p>
        </p:txBody>
      </p:sp>
      <p:sp>
        <p:nvSpPr>
          <p:cNvPr id="40" name="Прямоугольник 39"/>
          <p:cNvSpPr/>
          <p:nvPr/>
        </p:nvSpPr>
        <p:spPr>
          <a:xfrm>
            <a:off x="231228" y="1700784"/>
            <a:ext cx="4272455" cy="24505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Интерактивный режим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мяч движется </a:t>
            </a:r>
            <a:r>
              <a:rPr lang="en-US" sz="15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</a:t>
            </a:r>
            <a:r>
              <a:rPr lang="en-US" sz="15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ncurses </a:t>
            </a:r>
            <a:r>
              <a:rPr lang="en-US" sz="15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tick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</a:t>
            </a:r>
            <a:r>
              <a:rPr lang="en-US" sz="10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пошаговая версия · добавлены ncurses и независимое движение мяча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режим · Архитектура слоёв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88920" cy="3200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3200400"/>
          </a:xfrm>
          <a:prstGeom prst="rect">
            <a:avLst/>
          </a:prstGeom>
          <a:solidFill>
            <a:srgbClr val="1E7FC2"/>
          </a:solidFill>
          <a:ln w="12700">
            <a:solidFill>
              <a:srgbClr val="1E7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371600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63040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init_ncurses()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неблокирующий getch()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napms() — пауза кадра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88920" cy="3200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14400"/>
            <a:ext cx="54864" cy="3200400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371600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63040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движение ракеток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физика мяча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отскоки и голы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mechanism tick++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88920" cy="3200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14400"/>
            <a:ext cx="54864" cy="320040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91072" y="1371600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463040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get_cell()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mvaddch</a:t>
            </a:r>
            <a:r>
              <a:rPr lang="en-US" sz="105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r>
              <a:rPr lang="en-US" sz="1050" smtClean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ncurses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show_winner()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251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изменилось по сравнению с пошаговой версией: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4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stdio.h  -&gt;  ncurses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4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getchar()  -&gt;  getch() неблокирующий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4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 -&gt;  mvaddch / mvprintw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9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добавлен механизм tick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ncurses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23317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23317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инициализация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initscr();           // захват терминала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noecho();            // скрыть вводимые символы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curs_set(0);         // скрыть курсор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nodelay(stdscr,TRUE);// getch() не блокирует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3337560"/>
            <a:ext cx="4160520" cy="1600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37560"/>
            <a:ext cx="54864" cy="160020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649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 и завершение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39312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mvaddch(y, x, ch);  // символ в позицию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mvprintw(y, x, ...);// строка в позицию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refresh();           // сбросить буфер на экран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endwin();            // вернуть терминал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60520" cy="22402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68680"/>
            <a:ext cx="54864" cy="22402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41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ncurses (пошаговая)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271016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9179" y="909828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 </a:t>
            </a:r>
            <a:r>
              <a:rPr lang="en-US" sz="10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рисует </a:t>
            </a:r>
            <a:r>
              <a:rPr lang="ru-RU" sz="100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сверху вниз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перейти в произвольную позицию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getchar() ждёт Enter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«мигает» из-за 40 пустых строк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160520" cy="1600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37560"/>
            <a:ext cx="45719" cy="1600200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10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ncurses (интерактивная)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739896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9179" y="3410712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mvaddch рисует в любую точку (y, 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getch() возвращает ERR если нет ввода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refresh() обновляет только изменения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терминал полностью под управлением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</a:t>
            </a:r>
            <a:r>
              <a:rPr lang="en-US" sz="2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</a:t>
            </a:r>
            <a:r>
              <a:rPr lang="ru-RU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200" b="1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Отделение мяча от ввода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393192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пошагового режима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мяч двигается только когда игрок нажимает клавишу — это неестественно для реальной игры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3931920" cy="13258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— счётчик tick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мяч двигается каждые BALL_DELAY тиков независимо от того, нажал ли игрок клавишу — ввод и физика разделены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840480"/>
            <a:ext cx="393192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840480"/>
            <a:ext cx="54864" cy="1097280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886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(tick &gt;= BALL_DELAY)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двигаем мяч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 = </a:t>
            </a:r>
            <a:r>
              <a:rPr lang="en-US" sz="100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smtClean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ru-RU" sz="1000" smtClean="0">
              <a:solidFill>
                <a:srgbClr val="1A1A1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1000">
                <a:solidFill>
                  <a:srgbClr val="1A1A1A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ru-RU" sz="1000" smtClean="0">
                <a:solidFill>
                  <a:srgbClr val="1A1A1A"/>
                </a:solidFill>
                <a:latin typeface="Courier New" pitchFamily="34" charset="0"/>
                <a:cs typeface="Courier New" pitchFamily="34" charset="-120"/>
              </a:rPr>
              <a:t>   </a:t>
            </a:r>
            <a:r>
              <a:rPr lang="en-US" sz="1000" smtClean="0">
                <a:solidFill>
                  <a:srgbClr val="1A1A1A"/>
                </a:solidFill>
                <a:latin typeface="Courier New" pitchFamily="34" charset="0"/>
                <a:cs typeface="Courier New" pitchFamily="34" charset="-120"/>
              </a:rPr>
              <a:t>namps(80)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868680"/>
            <a:ext cx="4389120" cy="4069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96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кадр (TICK_MS = 80 мс):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98448"/>
            <a:ext cx="402336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298448"/>
            <a:ext cx="54864" cy="438912"/>
          </a:xfrm>
          <a:prstGeom prst="rect">
            <a:avLst/>
          </a:prstGeom>
          <a:solidFill>
            <a:srgbClr val="1E7FC2"/>
          </a:solidFill>
          <a:ln w="12700">
            <a:solidFill>
              <a:srgbClr val="1E7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35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getch()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15179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читаем клавишу — ERR если не нажата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1801368"/>
            <a:ext cx="402336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801368"/>
            <a:ext cx="54864" cy="438912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8379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 ракетки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20208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двигаем ракетку если нажата a/z/k/m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2304288"/>
            <a:ext cx="402336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304288"/>
            <a:ext cx="54864" cy="438912"/>
          </a:xfrm>
          <a:prstGeom prst="rect">
            <a:avLst/>
          </a:prstGeom>
          <a:solidFill>
            <a:srgbClr val="C89B00"/>
          </a:solidFill>
          <a:ln w="12700">
            <a:solidFill>
              <a:srgbClr val="C8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408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tick++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5237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увеличиваем счётчик каждый кадр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2807208"/>
            <a:ext cx="402336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807208"/>
            <a:ext cx="54864" cy="438912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843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tick&gt;=DELAY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026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в 4 тика двигаем мяч и сбрасываем tick=0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3310128"/>
            <a:ext cx="402336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310128"/>
            <a:ext cx="54864" cy="438912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346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35295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перерисовываем поле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3813048"/>
            <a:ext cx="4023360" cy="43891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813048"/>
            <a:ext cx="54864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napms(80)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40325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 80 мс — контроль частоты кадров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600" b="1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2560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2D9E52"/>
          </a:solidFill>
          <a:ln w="12700">
            <a:solidFill>
              <a:srgbClr val="2D9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Пошаговый </a:t>
            </a:r>
            <a:r>
              <a:rPr lang="ru-RU" sz="950" smtClean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smtClean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pong.c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32918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слои: логика / рендер / инфраструктура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 </a:t>
            </a:r>
            <a:r>
              <a:rPr lang="en-US" sz="10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</a:t>
            </a:r>
            <a:r>
              <a:rPr lang="ru-RU" sz="1050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выход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на переменную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280160"/>
            <a:ext cx="3840480" cy="2560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280160"/>
            <a:ext cx="54864" cy="25603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4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II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755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Интерактивный </a:t>
            </a:r>
            <a:r>
              <a:rPr lang="ru-RU" sz="950" smtClean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smtClean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pong_interactive.c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0" y="2057400"/>
            <a:ext cx="32918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ncurses вместо stdio</a:t>
            </a:r>
            <a:endParaRPr lang="en-US" sz="1050" dirty="0"/>
          </a:p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nodelay </a:t>
            </a:r>
            <a:r>
              <a:rPr lang="ru-RU" sz="1050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smtClean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неблокирующий ввод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tick отделяет мяч от ввода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варианта соответствуют принципам структурного программирования Дейкстры: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smtClean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850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глобальных переменных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84248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smtClean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850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указателей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94176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smtClean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850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массивов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04104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smtClean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</a:t>
            </a:r>
            <a:r>
              <a:rPr lang="en-US" sz="850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14032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smtClean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</a:t>
            </a:r>
            <a:r>
              <a:rPr lang="en-US" sz="850" dirty="0">
                <a:solidFill>
                  <a:srgbClr val="2D9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из функций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870</Words>
  <Application>Microsoft Office PowerPoint</Application>
  <PresentationFormat>Экран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Pong — две версии</dc:title>
  <dc:subject>PptxGenJS Presentation</dc:subject>
  <dc:creator>PptxGenJS</dc:creator>
  <cp:lastModifiedBy>Admin</cp:lastModifiedBy>
  <cp:revision>3</cp:revision>
  <dcterms:created xsi:type="dcterms:W3CDTF">2026-04-04T18:17:30Z</dcterms:created>
  <dcterms:modified xsi:type="dcterms:W3CDTF">2026-04-05T02:13:23Z</dcterms:modified>
</cp:coreProperties>
</file>